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799289-DCAD-4E82-A4E2-E0CDB23C2CC9}" v="14" dt="2026-07-10T07:40:04.233"/>
  </p1510:revLst>
</p1510:revInfo>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bitsnbytes12/Power-System-Fault-Detection"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8.jpeg"/></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174818446"/>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2000" u="none" strike="noStrike" cap="none"/>
                        <a:t>Anuska Bhattacharyya</a:t>
                      </a:r>
                      <a:endParaRPr sz="20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2000" u="none" strike="noStrike" cap="none"/>
                        <a:t>anuskabhattacharyya1@gmail.com</a:t>
                      </a:r>
                      <a:endParaRPr sz="20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2000" u="none" strike="noStrike" cap="none"/>
                        <a:t>6290032176</a:t>
                      </a:r>
                      <a:endParaRPr sz="20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000000"/>
                </a:solidFill>
                <a:latin typeface="Arial"/>
                <a:ea typeface="Arial"/>
                <a:cs typeface="Arial"/>
                <a:sym typeface="Arial"/>
              </a:rPr>
              <a:t>Domain of  Project – </a:t>
            </a:r>
            <a:r>
              <a:rPr lang="en-US" sz="2800" b="1" i="0" u="none" strike="noStrike" cap="none">
                <a:solidFill>
                  <a:srgbClr val="000000"/>
                </a:solidFill>
                <a:highlight>
                  <a:srgbClr val="FFFF00"/>
                </a:highlight>
                <a:latin typeface="Arial"/>
                <a:ea typeface="Arial"/>
                <a:cs typeface="Arial"/>
                <a:sym typeface="Arial"/>
              </a:rPr>
              <a:t>[Electrical Engineering]</a:t>
            </a:r>
            <a:endParaRPr sz="2800" b="1" i="0" u="none" strike="noStrike" cap="none">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000000"/>
                </a:solidFill>
                <a:latin typeface="Arial"/>
                <a:ea typeface="Arial"/>
                <a:cs typeface="Arial"/>
                <a:sym typeface="Arial"/>
              </a:rPr>
              <a:t>Project Tile </a:t>
            </a:r>
            <a:r>
              <a:rPr lang="en-US" sz="2400" b="1" i="0" u="none" strike="noStrike" cap="none">
                <a:solidFill>
                  <a:srgbClr val="000000"/>
                </a:solidFill>
                <a:latin typeface="Arial"/>
                <a:ea typeface="Arial"/>
                <a:cs typeface="Arial"/>
                <a:sym typeface="Arial"/>
              </a:rPr>
              <a:t>– </a:t>
            </a:r>
            <a:r>
              <a:rPr lang="en-US" sz="2400" b="1" i="0" u="none" strike="noStrike" cap="none">
                <a:solidFill>
                  <a:srgbClr val="000000"/>
                </a:solidFill>
                <a:highlight>
                  <a:srgbClr val="FFFF00"/>
                </a:highlight>
                <a:latin typeface="Arial"/>
                <a:ea typeface="Arial"/>
                <a:cs typeface="Arial"/>
                <a:sym typeface="Arial"/>
              </a:rPr>
              <a:t>[</a:t>
            </a:r>
            <a:r>
              <a:rPr lang="en-US" sz="2800" b="1">
                <a:solidFill>
                  <a:srgbClr val="002060"/>
                </a:solidFill>
                <a:highlight>
                  <a:srgbClr val="FFFF00"/>
                </a:highlight>
                <a:latin typeface="+mj-lt"/>
                <a:cs typeface="Times New Roman"/>
                <a:sym typeface="Times New Roman"/>
              </a:rPr>
              <a:t>Problem Statement No. 41- Power System Fault Detection and Classification </a:t>
            </a:r>
            <a:r>
              <a:rPr lang="en-US" sz="2400" b="1" i="0" u="none" strike="noStrike" cap="none">
                <a:solidFill>
                  <a:srgbClr val="000000"/>
                </a:solidFill>
                <a:highlight>
                  <a:srgbClr val="FFFF00"/>
                </a:highlight>
                <a:latin typeface="Arial"/>
                <a:ea typeface="Arial"/>
                <a:cs typeface="Arial"/>
                <a:sym typeface="Arial"/>
              </a:rPr>
              <a:t>]</a:t>
            </a:r>
            <a:endParaRPr sz="2400" b="1" i="0" u="none" strike="noStrike" cap="none">
              <a:solidFill>
                <a:srgbClr val="000000"/>
              </a:solidFill>
              <a:highlight>
                <a:srgbClr val="FFFF00"/>
              </a:highlight>
              <a:latin typeface="Arial"/>
              <a:ea typeface="Arial"/>
              <a:cs typeface="Arial"/>
              <a:sym typeface="Arial"/>
            </a:endParaRPr>
          </a:p>
        </p:txBody>
      </p:sp>
      <p:sp>
        <p:nvSpPr>
          <p:cNvPr id="90" name="Google Shape;90;p2"/>
          <p:cNvSpPr txBox="1"/>
          <p:nvPr/>
        </p:nvSpPr>
        <p:spPr>
          <a:xfrm>
            <a:off x="1211005" y="5210667"/>
            <a:ext cx="6456743" cy="16312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FF0000"/>
                </a:solidFill>
                <a:latin typeface="Arial"/>
                <a:ea typeface="Arial"/>
                <a:cs typeface="Arial"/>
                <a:sym typeface="Arial"/>
              </a:rPr>
              <a:t>Recommended font style and size:</a:t>
            </a:r>
            <a:br>
              <a:rPr lang="en-US" sz="2000" b="0" i="0" u="none" strike="noStrike" cap="none">
                <a:solidFill>
                  <a:srgbClr val="FF0000"/>
                </a:solidFill>
                <a:latin typeface="Arial"/>
                <a:ea typeface="Arial"/>
                <a:cs typeface="Arial"/>
                <a:sym typeface="Arial"/>
              </a:rPr>
            </a:br>
            <a:br>
              <a:rPr lang="en-US" sz="2000" b="0" i="0" u="none" strike="noStrike" cap="none">
                <a:solidFill>
                  <a:srgbClr val="000000"/>
                </a:solidFill>
                <a:latin typeface="Arial"/>
                <a:ea typeface="Arial"/>
                <a:cs typeface="Arial"/>
                <a:sym typeface="Arial"/>
              </a:rPr>
            </a:br>
            <a:r>
              <a:rPr lang="en-US" sz="2000" b="0" i="0" u="none" strike="noStrike" cap="none">
                <a:solidFill>
                  <a:srgbClr val="FF0000"/>
                </a:solidFill>
                <a:latin typeface="Arial"/>
                <a:ea typeface="Arial"/>
                <a:cs typeface="Arial"/>
                <a:sym typeface="Arial"/>
              </a:rPr>
              <a:t>Font Style: Arial</a:t>
            </a:r>
            <a:br>
              <a:rPr lang="en-US" sz="2000" b="0" i="0" u="none" strike="noStrike" cap="none">
                <a:solidFill>
                  <a:srgbClr val="FF0000"/>
                </a:solidFill>
                <a:latin typeface="Arial"/>
                <a:ea typeface="Arial"/>
                <a:cs typeface="Arial"/>
                <a:sym typeface="Arial"/>
              </a:rPr>
            </a:br>
            <a:r>
              <a:rPr lang="en-US" sz="2000" b="0" i="0" u="none" strike="noStrike" cap="none">
                <a:solidFill>
                  <a:srgbClr val="FF0000"/>
                </a:solidFill>
                <a:latin typeface="Arial"/>
                <a:ea typeface="Arial"/>
                <a:cs typeface="Arial"/>
                <a:sym typeface="Arial"/>
              </a:rPr>
              <a:t>Font Size (Heading): 28</a:t>
            </a:r>
            <a:endParaRPr/>
          </a:p>
          <a:p>
            <a:pPr marL="0" marR="0" lvl="0" indent="0" algn="l" rtl="0">
              <a:lnSpc>
                <a:spcPct val="100000"/>
              </a:lnSpc>
              <a:spcBef>
                <a:spcPts val="0"/>
              </a:spcBef>
              <a:spcAft>
                <a:spcPts val="0"/>
              </a:spcAft>
              <a:buNone/>
            </a:pPr>
            <a:r>
              <a:rPr lang="en-US" sz="2000" b="0" i="0" u="none" strike="noStrike" cap="none">
                <a:solidFill>
                  <a:srgbClr val="FF0000"/>
                </a:solidFill>
                <a:latin typeface="Arial"/>
                <a:ea typeface="Arial"/>
                <a:cs typeface="Arial"/>
                <a:sym typeface="Arial"/>
              </a:rPr>
              <a:t>Font Size (Content): 20</a:t>
            </a:r>
            <a:endParaRPr/>
          </a:p>
        </p:txBody>
      </p:sp>
      <p:pic>
        <p:nvPicPr>
          <p:cNvPr id="3" name="Picture 2">
            <a:extLst>
              <a:ext uri="{FF2B5EF4-FFF2-40B4-BE49-F238E27FC236}">
                <a16:creationId xmlns:a16="http://schemas.microsoft.com/office/drawing/2014/main" id="{B955E2F8-D40A-A30E-4792-6BBC2940F29C}"/>
              </a:ext>
            </a:extLst>
          </p:cNvPr>
          <p:cNvPicPr>
            <a:picLocks noChangeAspect="1"/>
          </p:cNvPicPr>
          <p:nvPr/>
        </p:nvPicPr>
        <p:blipFill>
          <a:blip r:embed="rId3"/>
          <a:stretch>
            <a:fillRect/>
          </a:stretch>
        </p:blipFill>
        <p:spPr>
          <a:xfrm>
            <a:off x="4071258" y="3641874"/>
            <a:ext cx="990599" cy="104516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1" y="1234440"/>
            <a:ext cx="11322015" cy="5693826"/>
          </a:xfrm>
          <a:prstGeom prst="rect">
            <a:avLst/>
          </a:prstGeom>
          <a:noFill/>
          <a:ln>
            <a:noFill/>
          </a:ln>
        </p:spPr>
        <p:txBody>
          <a:bodyPr spcFirstLastPara="1" wrap="square" lIns="91425" tIns="45700" rIns="91425" bIns="45700" anchor="t" anchorCtr="0">
            <a:spAutoFit/>
          </a:bodyPr>
          <a:lstStyle/>
          <a:p>
            <a:pPr lvl="0"/>
            <a:r>
              <a:rPr lang="en-US" sz="1400" b="1" i="0" u="none" strike="noStrike" cap="none">
                <a:solidFill>
                  <a:srgbClr val="000000"/>
                </a:solidFill>
                <a:latin typeface="Arial"/>
                <a:ea typeface="Arial"/>
                <a:cs typeface="Arial"/>
                <a:sym typeface="Arial"/>
              </a:rPr>
              <a:t>Problem Statement : </a:t>
            </a:r>
            <a:r>
              <a:rPr lang="en-US" b="1"/>
              <a:t>Power System Fault Detection and Classification</a:t>
            </a:r>
            <a:endParaRPr/>
          </a:p>
          <a:p>
            <a:pPr marL="0" marR="0" lvl="0" indent="0" algn="l" rtl="0">
              <a:lnSpc>
                <a:spcPct val="100000"/>
              </a:lnSpc>
              <a:spcBef>
                <a:spcPts val="0"/>
              </a:spcBef>
              <a:spcAft>
                <a:spcPts val="0"/>
              </a:spcAft>
              <a:buNone/>
            </a:pPr>
            <a:endParaRPr sz="14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The Challenge</a:t>
            </a:r>
            <a:r>
              <a:rPr lang="en-US" sz="1400" b="0" i="0" u="none" strike="noStrike" cap="none">
                <a:solidFill>
                  <a:srgbClr val="000000"/>
                </a:solidFill>
                <a:latin typeface="Arial"/>
                <a:ea typeface="Arial"/>
                <a:cs typeface="Arial"/>
                <a:sym typeface="Arial"/>
              </a:rPr>
              <a:t> </a:t>
            </a:r>
          </a:p>
          <a:p>
            <a:pPr lvl="0"/>
            <a:r>
              <a:rPr lang="en-IN"/>
              <a:t>Design a machine learning model to detect and classify different types of faults in a power distribution system. Using electrical measurement data (e.g., voltage and current phasors), the model should be able to distinguish between normal operating conditions and various fault conditions (such as line-to-ground, line-to-line, or three-phase faults). The objective is to enable rapid and accurate fault identification, which is crucial for maintaining power grid stability and reliability</a:t>
            </a:r>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The Objective</a:t>
            </a:r>
            <a:r>
              <a:rPr lang="en-US" sz="1400" b="0" i="0" u="none" strike="noStrike" cap="none">
                <a:solidFill>
                  <a:srgbClr val="000000"/>
                </a:solidFill>
                <a:latin typeface="Arial"/>
                <a:ea typeface="Arial"/>
                <a:cs typeface="Arial"/>
                <a:sym typeface="Arial"/>
              </a:rPr>
              <a:t> </a:t>
            </a:r>
            <a:endParaRPr/>
          </a:p>
          <a:p>
            <a:r>
              <a:rPr lang="en-IN"/>
              <a:t>Build an AI-powered Fault Detection and Classification System that uses machine learning to identify and classify different fault conditions in a power distribution network using electrical measurement data. The solution should:</a:t>
            </a:r>
          </a:p>
          <a:p>
            <a:r>
              <a:rPr lang="en-IN" b="1"/>
              <a:t>Fault Detection</a:t>
            </a:r>
            <a:r>
              <a:rPr lang="en-IN"/>
              <a:t> – Detect whether the power distribution system is operating under normal conditions or experiencing a fault. </a:t>
            </a:r>
          </a:p>
          <a:p>
            <a:r>
              <a:rPr lang="en-IN" b="1"/>
              <a:t>Fault Classification</a:t>
            </a:r>
            <a:r>
              <a:rPr lang="en-IN"/>
              <a:t> – Accurately classify faults into categories such as Line-to-Ground (LG), Line-to-Line (LL), Double Line-to-Ground (LLG), and Three-Phase (LLL) faults. </a:t>
            </a:r>
          </a:p>
          <a:p>
            <a:r>
              <a:rPr lang="en-IN" b="1"/>
              <a:t>Electrical Data Analysis</a:t>
            </a:r>
            <a:r>
              <a:rPr lang="en-IN"/>
              <a:t> – Process and analyse voltage and current phasor measurements to identify abnormal system behaviour. </a:t>
            </a:r>
          </a:p>
          <a:p>
            <a:r>
              <a:rPr lang="en-IN" b="1"/>
              <a:t>Real-Time Fault Identification</a:t>
            </a:r>
            <a:r>
              <a:rPr lang="en-IN"/>
              <a:t> – Provide rapid detection and classification to minimize outage time and improve grid reliability. </a:t>
            </a:r>
          </a:p>
          <a:p>
            <a:pPr lvl="1"/>
            <a:r>
              <a:rPr lang="en-IN" b="1"/>
              <a:t>Machine Learning-Based Decision Making</a:t>
            </a:r>
            <a:r>
              <a:rPr lang="en-IN"/>
              <a:t> –</a:t>
            </a:r>
          </a:p>
          <a:p>
            <a:pPr lvl="1"/>
            <a:r>
              <a:rPr lang="en-IN" b="1"/>
              <a:t>Data Processing Agent</a:t>
            </a:r>
            <a:r>
              <a:rPr lang="en-IN"/>
              <a:t> (preprocesses and normalizes electrical measurement data) </a:t>
            </a:r>
          </a:p>
          <a:p>
            <a:pPr lvl="1"/>
            <a:r>
              <a:rPr lang="en-IN" b="1"/>
              <a:t>Fault Detection Agent</a:t>
            </a:r>
            <a:r>
              <a:rPr lang="en-IN"/>
              <a:t> (distinguishes normal and faulty operating conditions) </a:t>
            </a:r>
          </a:p>
          <a:p>
            <a:pPr lvl="1"/>
            <a:r>
              <a:rPr lang="en-IN" b="1"/>
              <a:t>Fault Classification Agent</a:t>
            </a:r>
            <a:r>
              <a:rPr lang="en-IN"/>
              <a:t> (identifies the specific type of fault) </a:t>
            </a:r>
          </a:p>
          <a:p>
            <a:pPr lvl="1"/>
            <a:r>
              <a:rPr lang="en-IN" b="1"/>
              <a:t>Performance Evaluation Agent</a:t>
            </a:r>
            <a:r>
              <a:rPr lang="en-IN"/>
              <a:t> (measures model accuracy, precision, recall, and F1-score) </a:t>
            </a:r>
          </a:p>
          <a:p>
            <a:r>
              <a:rPr lang="en-IN" b="1"/>
              <a:t>Visualization Dashboard</a:t>
            </a:r>
            <a:r>
              <a:rPr lang="en-IN"/>
              <a:t> – Display fault status, predicted fault type, confidence score, and model performance metrics for operators to support quick and informed decision-making. </a:t>
            </a:r>
          </a:p>
          <a:p>
            <a:endParaRPr lang="en-IN"/>
          </a:p>
          <a:p>
            <a:pPr marL="0" marR="0" lvl="0" indent="0" algn="l" rtl="0">
              <a:lnSpc>
                <a:spcPct val="100000"/>
              </a:lnSpc>
              <a:spcBef>
                <a:spcPts val="0"/>
              </a:spcBef>
              <a:spcAft>
                <a:spcPts val="0"/>
              </a:spcAft>
              <a:buNone/>
            </a:pP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7" y="1168656"/>
            <a:ext cx="11094275" cy="52629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a:solidFill>
                <a:srgbClr val="000000"/>
              </a:solidFill>
              <a:latin typeface="Arial"/>
              <a:ea typeface="Arial"/>
              <a:cs typeface="Arial"/>
              <a:sym typeface="Arial"/>
            </a:endParaRPr>
          </a:p>
          <a:p>
            <a:r>
              <a:rPr lang="en-IN" b="1"/>
              <a:t>Proposed Solution: AI-Powered Fault Detection and Classification System</a:t>
            </a:r>
          </a:p>
          <a:p>
            <a:r>
              <a:rPr lang="en-IN"/>
              <a:t>The proposed solution is a multi-agent AI-powered Fault Detection and Classification System built using LangFlow, IBM watsonx.ai, and IBM Granite Models to provide intelligent, real-time fault detection and classification in power distribution systems. The system addresses challenges in rapid fault identification, grid monitoring, and power system reliability through an intelligent, modular architecture.</a:t>
            </a:r>
          </a:p>
          <a:p>
            <a:r>
              <a:rPr lang="en-IN"/>
              <a:t>At its core, the solution uses a Machine Learning pipeline to process electrical measurement data such as voltage and current phasors. The data is preprocessed, normalized, and analysed by trained machine learning models to distinguish between normal operating conditions and various fault types. IBM Granite models assist in reasoning, analysis, and generating explainable insights for fault diagnosis.</a:t>
            </a:r>
          </a:p>
          <a:p>
            <a:r>
              <a:rPr lang="en-IN"/>
              <a:t>The system consists of four key agents:</a:t>
            </a:r>
          </a:p>
          <a:p>
            <a:r>
              <a:rPr lang="en-IN" b="1"/>
              <a:t>Data Processing Agent</a:t>
            </a:r>
            <a:r>
              <a:rPr lang="en-IN"/>
              <a:t> preprocesses, cleans, and normalizes voltage and current measurement data before feeding it to the machine learning model. </a:t>
            </a:r>
          </a:p>
          <a:p>
            <a:r>
              <a:rPr lang="en-IN" b="1"/>
              <a:t>Fault Detection Agent</a:t>
            </a:r>
            <a:r>
              <a:rPr lang="en-IN"/>
              <a:t> continuously monitors incoming electrical data and identifies whether the power distribution system is operating normally or experiencing a fault. </a:t>
            </a:r>
          </a:p>
          <a:p>
            <a:r>
              <a:rPr lang="en-IN" b="1"/>
              <a:t>Fault Classification Agent</a:t>
            </a:r>
            <a:r>
              <a:rPr lang="en-IN"/>
              <a:t> classifies detected faults into categories such as Line-to-Ground (LG), Line-to-Line (LL), Double Line-to-Ground (LLG), and Three-Phase (LLL) faults using machine learning models. </a:t>
            </a:r>
          </a:p>
          <a:p>
            <a:r>
              <a:rPr lang="en-IN" b="1"/>
              <a:t>Performance Evaluation Agent</a:t>
            </a:r>
            <a:r>
              <a:rPr lang="en-IN"/>
              <a:t> evaluates prediction accuracy, precision, recall, F1-score, and confidence scores while generating performance reports for system validation. </a:t>
            </a:r>
          </a:p>
          <a:p>
            <a:r>
              <a:rPr lang="en-IN"/>
              <a:t>The solution includes a user-friendly dashboard (built with Streamlit or React) that visualizes real-time electrical parameters, detected fault types, confidence scores, historical fault records, and model performance metrics, enabling operators to make quick and informed decisions.</a:t>
            </a:r>
          </a:p>
          <a:p>
            <a:r>
              <a:rPr lang="en-IN" b="1"/>
              <a:t>LangFlow</a:t>
            </a:r>
            <a:r>
              <a:rPr lang="en-IN"/>
              <a:t> is used to orchestrate communication between the AI agents, while IBM watsonx.ai provides scalable AI model deployment, governance, and lifecycle management. IBM Granite models enhance reasoning, explainability, and intelligent decision-making throughout the fault diagnosis process.</a:t>
            </a: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 name="Google Shape;102;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08" name="Google Shape;108;p36"/>
          <p:cNvSpPr txBox="1"/>
          <p:nvPr/>
        </p:nvSpPr>
        <p:spPr>
          <a:xfrm>
            <a:off x="603067" y="1065494"/>
            <a:ext cx="11164389" cy="6063158"/>
          </a:xfrm>
          <a:prstGeom prst="rect">
            <a:avLst/>
          </a:prstGeom>
          <a:noFill/>
          <a:ln>
            <a:noFill/>
          </a:ln>
        </p:spPr>
        <p:txBody>
          <a:bodyPr spcFirstLastPara="1" wrap="square" lIns="91425" tIns="45700" rIns="91425" bIns="45700" anchor="t" anchorCtr="0">
            <a:spAutoFit/>
          </a:bodyPr>
          <a:lstStyle/>
          <a:p>
            <a:pPr marL="285750" lvl="0" indent="-171450">
              <a:buSzPts val="1800"/>
            </a:pPr>
            <a:r>
              <a:rPr lang="en-IN" sz="1800" b="1"/>
              <a:t>LangFlow Platform</a:t>
            </a:r>
            <a:r>
              <a:rPr lang="en-IN" sz="1800"/>
              <a:t> – For designing and orchestrating multi-agent AI workflows visually. </a:t>
            </a:r>
          </a:p>
          <a:p>
            <a:pPr marL="285750" lvl="0" indent="-171450">
              <a:buSzPts val="1800"/>
            </a:pPr>
            <a:endParaRPr lang="en-IN" sz="1800"/>
          </a:p>
          <a:p>
            <a:pPr marL="285750" lvl="0" indent="-171450">
              <a:buSzPts val="1800"/>
            </a:pPr>
            <a:r>
              <a:rPr lang="en-IN" sz="1800" b="1"/>
              <a:t>IBM Granite Model</a:t>
            </a:r>
            <a:r>
              <a:rPr lang="en-IN" sz="1800"/>
              <a:t>– For intelligent reasoning, fault explanation, and generating human-readable insights from detected power system faults.</a:t>
            </a:r>
          </a:p>
          <a:p>
            <a:pPr marL="285750" lvl="0" indent="-171450">
              <a:buSzPts val="1800"/>
            </a:pPr>
            <a:endParaRPr lang="en-IN" sz="1800"/>
          </a:p>
          <a:p>
            <a:pPr marL="285750" lvl="0" indent="-171450">
              <a:buSzPts val="1800"/>
            </a:pPr>
            <a:r>
              <a:rPr lang="en-IN" sz="1800"/>
              <a:t> </a:t>
            </a:r>
            <a:r>
              <a:rPr lang="en-IN" sz="1800" b="1"/>
              <a:t>IBM watsonx.ai</a:t>
            </a:r>
            <a:r>
              <a:rPr lang="en-IN" sz="1800"/>
              <a:t> – For AI model deployment, prompt engineering, model governance, and integrating AI services into the fault detection system. </a:t>
            </a:r>
          </a:p>
          <a:p>
            <a:pPr marL="285750" lvl="0" indent="-171450">
              <a:buSzPts val="1800"/>
            </a:pPr>
            <a:endParaRPr lang="en-IN" sz="1800"/>
          </a:p>
          <a:p>
            <a:pPr marL="285750" lvl="0" indent="-171450">
              <a:buSzPts val="1800"/>
            </a:pPr>
            <a:r>
              <a:rPr lang="en-IN" sz="1800" b="1"/>
              <a:t>IBM Cloud</a:t>
            </a:r>
            <a:r>
              <a:rPr lang="en-IN" sz="1800"/>
              <a:t> – Provides a secure, scalable, and reliable cloud infrastructure for deploying and monitoring the AI-powered fault detection system. </a:t>
            </a:r>
          </a:p>
          <a:p>
            <a:pPr marL="285750" lvl="0" indent="-171450">
              <a:buSzPts val="1800"/>
            </a:pPr>
            <a:endParaRPr lang="en-IN" sz="1800"/>
          </a:p>
          <a:p>
            <a:pPr marL="285750" lvl="0" indent="-171450">
              <a:buSzPts val="1800"/>
            </a:pPr>
            <a:r>
              <a:rPr lang="en-IN" sz="1800" b="1"/>
              <a:t>Machine Learning (Scikit-learn/TensorFlow)</a:t>
            </a:r>
            <a:r>
              <a:rPr lang="en-IN" sz="1800"/>
              <a:t> – For training and deploying models that detect and classify power system faults using voltage and current phasor data. </a:t>
            </a:r>
          </a:p>
          <a:p>
            <a:pPr marL="285750" lvl="0" indent="-171450">
              <a:buSzPts val="1800"/>
            </a:pPr>
            <a:endParaRPr lang="en-IN" sz="1800"/>
          </a:p>
          <a:p>
            <a:pPr marL="285750" lvl="0" indent="-171450">
              <a:buSzPts val="1800"/>
            </a:pPr>
            <a:r>
              <a:rPr lang="en-IN" sz="1800" b="1"/>
              <a:t>Python</a:t>
            </a:r>
            <a:r>
              <a:rPr lang="en-IN" sz="1800"/>
              <a:t> – For data preprocessing, feature engineering, model training, and system integration.</a:t>
            </a:r>
          </a:p>
          <a:p>
            <a:pPr marL="285750" lvl="0" indent="-171450">
              <a:buSzPts val="1800"/>
            </a:pPr>
            <a:endParaRPr lang="en-IN" sz="1800"/>
          </a:p>
          <a:p>
            <a:pPr marL="285750" lvl="0" indent="-171450">
              <a:buSzPts val="1800"/>
            </a:pPr>
            <a:r>
              <a:rPr lang="en-IN" sz="1800"/>
              <a:t> </a:t>
            </a:r>
            <a:r>
              <a:rPr lang="en-IN" sz="1800" b="1"/>
              <a:t>Pandas &amp; NumPy</a:t>
            </a:r>
            <a:r>
              <a:rPr lang="en-IN" sz="1800"/>
              <a:t> – For processing and analysing electrical measurement datasets. </a:t>
            </a:r>
          </a:p>
          <a:p>
            <a:pPr marL="285750" lvl="0" indent="-171450">
              <a:buSzPts val="1800"/>
            </a:pPr>
            <a:endParaRPr lang="en-IN" sz="1800"/>
          </a:p>
          <a:p>
            <a:pPr marL="285750" lvl="0" indent="-171450">
              <a:buSzPts val="1800"/>
            </a:pPr>
            <a:r>
              <a:rPr lang="en-IN" sz="1800" b="1"/>
              <a:t>Streamlit</a:t>
            </a:r>
            <a:r>
              <a:rPr lang="en-IN" sz="1800"/>
              <a:t> – For developing an interactive dashboard that displays fault predictions, confidence scores, and system status.</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err="1">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component Used -</a:t>
            </a:r>
            <a:endParaRPr sz="2400" b="1" i="0" u="none" strike="noStrike" cap="none">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863187"/>
            <a:ext cx="10661264" cy="58477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r>
              <a:rPr lang="en-IN" sz="1800" b="1"/>
              <a:t>1) File Input</a:t>
            </a:r>
            <a:r>
              <a:rPr lang="en-IN" sz="1800"/>
              <a:t> – Uploads the power system dataset containing voltage, current phasors, and fault labels for preprocessing and machine learning analysis.</a:t>
            </a:r>
          </a:p>
          <a:p>
            <a:r>
              <a:rPr lang="en-IN" sz="1800" b="1"/>
              <a:t>2) IBM </a:t>
            </a:r>
            <a:r>
              <a:rPr lang="en-IN" sz="1800" b="1" err="1"/>
              <a:t>watsonx</a:t>
            </a:r>
            <a:r>
              <a:rPr lang="en-IN" sz="1800" b="1"/>
              <a:t> AI Agent</a:t>
            </a:r>
            <a:r>
              <a:rPr lang="en-IN" sz="1800"/>
              <a:t> – Processes electrical measurement data and collaborates with multiple agents to provide intelligent fault diagnosis, explain predictions, and generate recommendations using IBM Granite models.</a:t>
            </a:r>
          </a:p>
          <a:p>
            <a:r>
              <a:rPr lang="en-IN" sz="1800" b="1"/>
              <a:t>3) IBM Granite Model</a:t>
            </a:r>
            <a:r>
              <a:rPr lang="en-IN" sz="1800"/>
              <a:t> → Performs reasoning, explains detected faults, summarizes system conditions, and assists operators in understanding fault classification results.</a:t>
            </a:r>
          </a:p>
          <a:p>
            <a:r>
              <a:rPr lang="en-IN" sz="1800" b="1"/>
              <a:t>4) Machine Learning Agent</a:t>
            </a:r>
            <a:r>
              <a:rPr lang="en-IN" sz="1800"/>
              <a:t> – Uses the trained machine learning model to detect abnormal operating conditions and classify faults such as Line-to-Ground (LG), Line-to-Line (LL), Double Line-to-Ground (LLG), and Three-Phase (LLL) faults.</a:t>
            </a:r>
          </a:p>
          <a:p>
            <a:r>
              <a:rPr lang="en-IN" sz="1800" b="1"/>
              <a:t>5) Chat Output</a:t>
            </a:r>
            <a:r>
              <a:rPr lang="en-IN" sz="1800"/>
              <a:t> – Displays the detected fault type, confidence score, fault explanation, and recommended corrective actions in natural language.</a:t>
            </a:r>
          </a:p>
          <a:p>
            <a:r>
              <a:rPr lang="en-IN" sz="1800" b="1"/>
              <a:t>6) File Component</a:t>
            </a:r>
            <a:r>
              <a:rPr lang="en-IN" sz="1800"/>
              <a:t> – Stores and retrieves electrical measurement datasets, trained machine learning models, prediction results, and historical fault records.</a:t>
            </a:r>
          </a:p>
          <a:p>
            <a:pPr lvl="0"/>
            <a:r>
              <a:rPr lang="en-IN" sz="1800" b="1"/>
              <a:t>7) Prompt Template</a:t>
            </a:r>
            <a:r>
              <a:rPr lang="en-IN" sz="1800"/>
              <a:t> – Formats user queries and electrical measurement data into structured prompts for the IBM Granite model, ensuring consistent and accurate responses.</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 </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workflow -</a:t>
            </a:r>
            <a:endParaRPr sz="2400" b="1"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A1EBFD25-4A5F-2B2D-35EE-03EC800F932B}"/>
              </a:ext>
            </a:extLst>
          </p:cNvPr>
          <p:cNvPicPr>
            <a:picLocks noChangeAspect="1"/>
          </p:cNvPicPr>
          <p:nvPr/>
        </p:nvPicPr>
        <p:blipFill>
          <a:blip r:embed="rId3"/>
          <a:stretch>
            <a:fillRect/>
          </a:stretch>
        </p:blipFill>
        <p:spPr>
          <a:xfrm>
            <a:off x="722647" y="1051735"/>
            <a:ext cx="10493829" cy="548302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BE01651B-8682-65CB-C61D-00180D39713E}"/>
              </a:ext>
            </a:extLst>
          </p:cNvPr>
          <p:cNvPicPr>
            <a:picLocks noChangeAspect="1"/>
          </p:cNvPicPr>
          <p:nvPr/>
        </p:nvPicPr>
        <p:blipFill>
          <a:blip r:embed="rId3"/>
          <a:stretch>
            <a:fillRect/>
          </a:stretch>
        </p:blipFill>
        <p:spPr>
          <a:xfrm>
            <a:off x="413656" y="928726"/>
            <a:ext cx="11386457" cy="549737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9" name="Google Shape;139;p9"/>
          <p:cNvSpPr txBox="1"/>
          <p:nvPr/>
        </p:nvSpPr>
        <p:spPr>
          <a:xfrm>
            <a:off x="621792" y="1167493"/>
            <a:ext cx="7406640" cy="4185721"/>
          </a:xfrm>
          <a:prstGeom prst="rect">
            <a:avLst/>
          </a:prstGeom>
          <a:noFill/>
          <a:ln>
            <a:noFill/>
          </a:ln>
        </p:spPr>
        <p:txBody>
          <a:bodyPr spcFirstLastPara="1" wrap="square" lIns="91425" tIns="45700" rIns="91425" bIns="45700" anchor="t" anchorCtr="0">
            <a:spAutoFit/>
          </a:bodyPr>
          <a:lstStyle/>
          <a:p>
            <a:r>
              <a:rPr lang="en-IN" b="1"/>
              <a:t>Role of Agentic AI in Fault Detection and Classification System</a:t>
            </a:r>
          </a:p>
          <a:p>
            <a:r>
              <a:rPr lang="en-IN"/>
              <a:t>Agentic AI enables the Fault Detection and Classification System to function as an intelligent, autonomous platform rather than a conventional fault monitoring application. Using IBM watsonx.ai and IBM Granite models, it coordinates multiple specialized agents to analyse electrical measurement data and identify faults in real time.</a:t>
            </a:r>
          </a:p>
          <a:p>
            <a:r>
              <a:rPr lang="en-IN"/>
              <a:t>Each agent performs a dedicated task—such as preprocessing voltage and current phasor data, detecting abnormal operating conditions, classifying the type of fault, and evaluating model performance—while collaborating with other agents. This multi-agent architecture ensures faster analysis, higher accuracy, and efficient fault diagnosis.</a:t>
            </a:r>
          </a:p>
          <a:p>
            <a:r>
              <a:rPr lang="en-IN"/>
              <a:t>Agentic AI also provides context awareness by understanding power system operating conditions and historical measurement patterns to improve fault detection and reduce false alarms. It supports real-time adaptation, continuously processing incoming electrical data and updating predictions as new measurements become available.</a:t>
            </a:r>
          </a:p>
          <a:p>
            <a:r>
              <a:rPr lang="en-IN"/>
              <a:t>Additionally, the agents communicate with one another, allowing the system to validate results, improve decision-making, and provide reliable fault classification for grid operators.</a:t>
            </a:r>
          </a:p>
          <a:p>
            <a:r>
              <a:rPr lang="en-IN"/>
              <a:t>Overall, Agentic AI makes the system proactive, intelligent, and data-driven, acting as a smart power grid assistant that enables rapid fault detection, accurate fault classification, and improved stability and reliability of the power distribution network.</a:t>
            </a:r>
          </a:p>
          <a:p>
            <a:pPr marL="0" marR="0" lvl="0" indent="0" algn="l" rtl="0">
              <a:lnSpc>
                <a:spcPct val="100000"/>
              </a:lnSpc>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8" name="Google Shape;148;p39"/>
          <p:cNvSpPr txBox="1"/>
          <p:nvPr/>
        </p:nvSpPr>
        <p:spPr>
          <a:xfrm>
            <a:off x="897392" y="1042133"/>
            <a:ext cx="4371171" cy="369291"/>
          </a:xfrm>
          <a:prstGeom prst="rect">
            <a:avLst/>
          </a:prstGeom>
          <a:noFill/>
          <a:ln>
            <a:noFill/>
          </a:ln>
        </p:spPr>
        <p:txBody>
          <a:bodyPr spcFirstLastPara="1" wrap="square" lIns="91425" tIns="45700" rIns="91425" bIns="45700" anchor="t" anchorCtr="0">
            <a:spAutoFit/>
          </a:bodyPr>
          <a:lstStyle/>
          <a:p>
            <a:pPr lvl="0"/>
            <a:r>
              <a:rPr lang="en-US" sz="1800"/>
              <a:t>10,561 </a:t>
            </a:r>
            <a:r>
              <a:rPr lang="en-US" sz="1800" b="0" i="0" u="none" strike="noStrike" cap="none">
                <a:solidFill>
                  <a:srgbClr val="000000"/>
                </a:solidFill>
                <a:latin typeface="Arial"/>
                <a:ea typeface="Arial"/>
                <a:cs typeface="Arial"/>
                <a:sym typeface="Arial"/>
              </a:rPr>
              <a:t>token are used</a:t>
            </a:r>
            <a:endParaRPr sz="1800"/>
          </a:p>
        </p:txBody>
      </p:sp>
      <p:sp>
        <p:nvSpPr>
          <p:cNvPr id="151" name="Google Shape;151;p39"/>
          <p:cNvSpPr txBox="1"/>
          <p:nvPr/>
        </p:nvSpPr>
        <p:spPr>
          <a:xfrm>
            <a:off x="1278639" y="1718067"/>
            <a:ext cx="27431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sng" strike="noStrike" cap="none">
                <a:solidFill>
                  <a:srgbClr val="000000"/>
                </a:solidFill>
                <a:latin typeface="Arial"/>
                <a:ea typeface="Arial"/>
                <a:cs typeface="Arial"/>
                <a:sym typeface="Arial"/>
              </a:rPr>
              <a:t>Before Prompt</a:t>
            </a:r>
            <a:endParaRPr/>
          </a:p>
        </p:txBody>
      </p:sp>
      <p:sp>
        <p:nvSpPr>
          <p:cNvPr id="152" name="Google Shape;152;p39"/>
          <p:cNvSpPr txBox="1"/>
          <p:nvPr/>
        </p:nvSpPr>
        <p:spPr>
          <a:xfrm>
            <a:off x="7106828" y="1722919"/>
            <a:ext cx="274319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sng" strike="noStrike" cap="none">
                <a:solidFill>
                  <a:srgbClr val="000000"/>
                </a:solidFill>
                <a:latin typeface="Arial"/>
                <a:ea typeface="Arial"/>
                <a:cs typeface="Arial"/>
                <a:sym typeface="Arial"/>
              </a:rPr>
              <a:t>After the Prompt</a:t>
            </a:r>
            <a:endParaRPr/>
          </a:p>
        </p:txBody>
      </p:sp>
      <p:pic>
        <p:nvPicPr>
          <p:cNvPr id="3" name="Picture 2">
            <a:extLst>
              <a:ext uri="{FF2B5EF4-FFF2-40B4-BE49-F238E27FC236}">
                <a16:creationId xmlns:a16="http://schemas.microsoft.com/office/drawing/2014/main" id="{FC3E9EA7-ACA4-63A3-AB44-E27657C91CAD}"/>
              </a:ext>
            </a:extLst>
          </p:cNvPr>
          <p:cNvPicPr>
            <a:picLocks noChangeAspect="1"/>
          </p:cNvPicPr>
          <p:nvPr/>
        </p:nvPicPr>
        <p:blipFill>
          <a:blip r:embed="rId3"/>
          <a:stretch>
            <a:fillRect/>
          </a:stretch>
        </p:blipFill>
        <p:spPr>
          <a:xfrm>
            <a:off x="512338" y="2387378"/>
            <a:ext cx="4625720" cy="2829388"/>
          </a:xfrm>
          <a:prstGeom prst="rect">
            <a:avLst/>
          </a:prstGeom>
        </p:spPr>
      </p:pic>
      <p:pic>
        <p:nvPicPr>
          <p:cNvPr id="5" name="Picture 4">
            <a:extLst>
              <a:ext uri="{FF2B5EF4-FFF2-40B4-BE49-F238E27FC236}">
                <a16:creationId xmlns:a16="http://schemas.microsoft.com/office/drawing/2014/main" id="{B647EBC8-A55C-7F49-E02D-3B1AC7343A24}"/>
              </a:ext>
            </a:extLst>
          </p:cNvPr>
          <p:cNvPicPr>
            <a:picLocks noChangeAspect="1"/>
          </p:cNvPicPr>
          <p:nvPr/>
        </p:nvPicPr>
        <p:blipFill>
          <a:blip r:embed="rId4"/>
          <a:stretch>
            <a:fillRect/>
          </a:stretch>
        </p:blipFill>
        <p:spPr>
          <a:xfrm>
            <a:off x="6096000" y="2293411"/>
            <a:ext cx="5052156" cy="29209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58" name="Google Shape;158;p40"/>
          <p:cNvSpPr txBox="1"/>
          <p:nvPr/>
        </p:nvSpPr>
        <p:spPr>
          <a:xfrm>
            <a:off x="777240" y="1207008"/>
            <a:ext cx="11077303" cy="4616608"/>
          </a:xfrm>
          <a:prstGeom prst="rect">
            <a:avLst/>
          </a:prstGeom>
          <a:noFill/>
          <a:ln>
            <a:noFill/>
          </a:ln>
        </p:spPr>
        <p:txBody>
          <a:bodyPr spcFirstLastPara="1" wrap="square" lIns="91425" tIns="45700" rIns="91425" bIns="45700" anchor="t" anchorCtr="0">
            <a:spAutoFit/>
          </a:bodyPr>
          <a:lstStyle/>
          <a:p>
            <a:r>
              <a:rPr lang="en-IN"/>
              <a:t>The proposed </a:t>
            </a:r>
            <a:r>
              <a:rPr lang="en-IN" b="1"/>
              <a:t>Fault Detection and Classification System</a:t>
            </a:r>
            <a:r>
              <a:rPr lang="en-IN"/>
              <a:t> stands out by combining </a:t>
            </a:r>
            <a:r>
              <a:rPr lang="en-IN" b="1"/>
              <a:t>Agentic AI, Machine Learning, and real-time electrical data analysis</a:t>
            </a:r>
            <a:r>
              <a:rPr lang="en-IN"/>
              <a:t> into a single intelligent solution.</a:t>
            </a:r>
          </a:p>
          <a:p>
            <a:r>
              <a:rPr lang="en-IN" b="1"/>
              <a:t>Multi-Agent Intelligence</a:t>
            </a:r>
            <a:r>
              <a:rPr lang="en-IN"/>
              <a:t> – Instead of relying on a single prediction model, multiple specialized agents collaborate to preprocess data, detect faults, classify fault types, and evaluate model performance. </a:t>
            </a:r>
          </a:p>
          <a:p>
            <a:r>
              <a:rPr lang="en-IN" b="1"/>
              <a:t>AI-Driven Fault Diagnosis</a:t>
            </a:r>
            <a:r>
              <a:rPr lang="en-IN"/>
              <a:t> – Utilizes machine learning to automatically detect and classify faults, reducing dependence on traditional rule-based or manual fault analysis methods. </a:t>
            </a:r>
          </a:p>
          <a:p>
            <a:r>
              <a:rPr lang="en-IN" b="1"/>
              <a:t>Real-Time Fault Detection</a:t>
            </a:r>
            <a:r>
              <a:rPr lang="en-IN"/>
              <a:t> – Continuously analyses voltage and current phasor measurements, enabling rapid identification of abnormal operating conditions and minimizing response time. </a:t>
            </a:r>
          </a:p>
          <a:p>
            <a:r>
              <a:rPr lang="en-IN" b="1"/>
              <a:t>High Classification Accuracy</a:t>
            </a:r>
            <a:r>
              <a:rPr lang="en-IN"/>
              <a:t> – Distinguishes between multiple fault types such as </a:t>
            </a:r>
            <a:r>
              <a:rPr lang="en-IN" b="1"/>
              <a:t>Line-to-Ground (LG), Line-to-Line (LL), Double Line-to-Ground (LLG), and Three-Phase (LLL)</a:t>
            </a:r>
            <a:r>
              <a:rPr lang="en-IN"/>
              <a:t> faults with improved precision. </a:t>
            </a:r>
          </a:p>
          <a:p>
            <a:r>
              <a:rPr lang="en-IN" b="1"/>
              <a:t>Adaptive Learning</a:t>
            </a:r>
            <a:r>
              <a:rPr lang="en-IN"/>
              <a:t> – Learns from historical and newly available electrical measurement data, allowing the system to improve prediction accuracy over time. </a:t>
            </a:r>
          </a:p>
          <a:p>
            <a:r>
              <a:rPr lang="en-IN" b="1"/>
              <a:t>Visualization Dashboard</a:t>
            </a:r>
            <a:r>
              <a:rPr lang="en-IN"/>
              <a:t> – Provides operators with real-time fault status, predicted fault type, confidence scores, and performance metrics for faster and more informed decision-making. </a:t>
            </a:r>
          </a:p>
          <a:p>
            <a:r>
              <a:rPr lang="en-IN" b="1"/>
              <a:t>Scalable &amp; Enterprise-Ready</a:t>
            </a:r>
            <a:r>
              <a:rPr lang="en-IN"/>
              <a:t> – Built on </a:t>
            </a:r>
            <a:r>
              <a:rPr lang="en-IN" b="1"/>
              <a:t>IBM watsonx.ai</a:t>
            </a:r>
            <a:r>
              <a:rPr lang="en-IN"/>
              <a:t> with </a:t>
            </a:r>
            <a:r>
              <a:rPr lang="en-IN" b="1"/>
              <a:t>IBM Granite models</a:t>
            </a:r>
            <a:r>
              <a:rPr lang="en-IN"/>
              <a:t>, ensuring scalability, reliability, governance, and seamless deployment for modern smart grid environments. </a:t>
            </a:r>
          </a:p>
          <a:p>
            <a:r>
              <a:rPr lang="en-IN" b="1"/>
              <a:t>This makes the solution a smart, adaptive, and proactive power grid monitoring system, not just a conventional fault detection tool.</a:t>
            </a:r>
            <a:endParaRPr lang="en-IN"/>
          </a:p>
          <a:p>
            <a:br>
              <a:rPr lang="en-IN"/>
            </a:br>
            <a:endParaRPr lang="en-IN"/>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218724" y="1536736"/>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2800">
                <a:latin typeface="Times New Roman"/>
                <a:ea typeface="Times New Roman"/>
                <a:cs typeface="Times New Roman"/>
                <a:sym typeface="Times New Roman"/>
                <a:hlinkClick r:id="rId3"/>
              </a:rPr>
              <a:t>https://github.com/bitsnbytes12/Power-System-Fault-Detection</a:t>
            </a:r>
            <a:r>
              <a:rPr lang="en-IN" sz="2800">
                <a:latin typeface="Times New Roman"/>
                <a:ea typeface="Times New Roman"/>
                <a:cs typeface="Times New Roman"/>
                <a:sym typeface="Times New Roman"/>
              </a:rPr>
              <a:t> </a:t>
            </a:r>
            <a:endParaRPr sz="2800" b="0" i="0" u="none" strike="noStrike" cap="none">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2000" b="1"/>
              <a:t>1. Integration with IoT Sensors &amp; Smart Grid Infrastructure –</a:t>
            </a:r>
            <a:br>
              <a:rPr lang="en-IN" sz="2000"/>
            </a:br>
            <a:r>
              <a:rPr lang="en-IN" sz="2000"/>
              <a:t>The system can be integrated with IoT-enabled sensors, Phasor Measurement Units (PMUs), Smart Meters, and SCADA systems to collect real-time voltage and current measurements across the power distribution network. This will enable continuous monitoring, faster fault detection, and improved situational awareness for utility operators.</a:t>
            </a:r>
          </a:p>
          <a:p>
            <a:r>
              <a:rPr lang="en-IN" sz="2000" b="1"/>
              <a:t>2. AI-Powered Predictive Maintenance &amp; Self-Healing Grid –</a:t>
            </a:r>
            <a:br>
              <a:rPr lang="en-IN" sz="2000"/>
            </a:br>
            <a:r>
              <a:rPr lang="en-IN" sz="2000"/>
              <a:t>The solution can be extended with predictive maintenance capabilities to identify potential equipment failures before faults occur. By combining Agentic AI with advanced machine learning and smart grid technologies, the system can recommend preventive maintenance actions and support self-healing power networks that automatically isolate faults and restore power, improving grid reliability and reducing downtime.</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1F722F09-9600-7395-590E-DA19E16D04D1}"/>
              </a:ext>
            </a:extLst>
          </p:cNvPr>
          <p:cNvPicPr>
            <a:picLocks noChangeAspect="1"/>
          </p:cNvPicPr>
          <p:nvPr/>
        </p:nvPicPr>
        <p:blipFill>
          <a:blip r:embed="rId3"/>
          <a:stretch>
            <a:fillRect/>
          </a:stretch>
        </p:blipFill>
        <p:spPr>
          <a:xfrm>
            <a:off x="235209" y="1683747"/>
            <a:ext cx="3745629" cy="2964623"/>
          </a:xfrm>
          <a:prstGeom prst="rect">
            <a:avLst/>
          </a:prstGeom>
        </p:spPr>
      </p:pic>
      <p:pic>
        <p:nvPicPr>
          <p:cNvPr id="4" name="Picture 3">
            <a:extLst>
              <a:ext uri="{FF2B5EF4-FFF2-40B4-BE49-F238E27FC236}">
                <a16:creationId xmlns:a16="http://schemas.microsoft.com/office/drawing/2014/main" id="{733F862C-7DEA-DFF2-A71F-7E5771D00518}"/>
              </a:ext>
            </a:extLst>
          </p:cNvPr>
          <p:cNvPicPr>
            <a:picLocks noChangeAspect="1"/>
          </p:cNvPicPr>
          <p:nvPr/>
        </p:nvPicPr>
        <p:blipFill>
          <a:blip r:embed="rId4"/>
          <a:stretch>
            <a:fillRect/>
          </a:stretch>
        </p:blipFill>
        <p:spPr>
          <a:xfrm>
            <a:off x="4244263" y="1679147"/>
            <a:ext cx="3864428" cy="2964622"/>
          </a:xfrm>
          <a:prstGeom prst="rect">
            <a:avLst/>
          </a:prstGeom>
        </p:spPr>
      </p:pic>
      <p:pic>
        <p:nvPicPr>
          <p:cNvPr id="6" name="Picture 5">
            <a:extLst>
              <a:ext uri="{FF2B5EF4-FFF2-40B4-BE49-F238E27FC236}">
                <a16:creationId xmlns:a16="http://schemas.microsoft.com/office/drawing/2014/main" id="{FF94C5E6-474B-88F1-52F5-7E2BB26BC0F4}"/>
              </a:ext>
            </a:extLst>
          </p:cNvPr>
          <p:cNvPicPr>
            <a:picLocks noChangeAspect="1"/>
          </p:cNvPicPr>
          <p:nvPr/>
        </p:nvPicPr>
        <p:blipFill>
          <a:blip r:embed="rId5"/>
          <a:stretch>
            <a:fillRect/>
          </a:stretch>
        </p:blipFill>
        <p:spPr>
          <a:xfrm>
            <a:off x="8279968" y="1679147"/>
            <a:ext cx="3835832" cy="296462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B6C8872C-457E-F795-2C5F-1D2D94970CD9}"/>
              </a:ext>
            </a:extLst>
          </p:cNvPr>
          <p:cNvPicPr>
            <a:picLocks noChangeAspect="1"/>
          </p:cNvPicPr>
          <p:nvPr/>
        </p:nvPicPr>
        <p:blipFill>
          <a:blip r:embed="rId3"/>
          <a:stretch>
            <a:fillRect/>
          </a:stretch>
        </p:blipFill>
        <p:spPr>
          <a:xfrm>
            <a:off x="1909675" y="1110343"/>
            <a:ext cx="8126954" cy="50139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1756</Words>
  <Application>Microsoft Office PowerPoint</Application>
  <PresentationFormat>Widescreen</PresentationFormat>
  <Paragraphs>113</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an00skabhattacharyya123@outlook.com</cp:lastModifiedBy>
  <cp:revision>4</cp:revision>
  <dcterms:created xsi:type="dcterms:W3CDTF">2025-07-08T05:06:56Z</dcterms:created>
  <dcterms:modified xsi:type="dcterms:W3CDTF">2026-07-10T09:26:28Z</dcterms:modified>
</cp:coreProperties>
</file>